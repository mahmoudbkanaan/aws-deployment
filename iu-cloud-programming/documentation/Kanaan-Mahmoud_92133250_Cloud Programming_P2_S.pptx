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hmoudBKanaan/AWS-Deployment/tree/portfolio-part-2-first-draft/iu-cloud-programming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hmoudBKanaan/AWS-Deployment/tree/portfolio-part-2-first-draft/iu-cloud-programming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1FB530C-36CA-47D1-B9E1-8A870506DD00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571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IU CLOUD PROGRAMMING · TASK 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7C3BD23-4DFB-4229-A962-52E3294A9AFF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10763250" cy="2619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Secure and Globally Distributed</a:t>
            </a:r>
          </a:p>
          <a:p>
            <a:pPr algn="l">
              <a:defRPr sz="5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Static Website on AWS</a:t>
            </a:r>
          </a:p>
          <a:p>
            <a:pPr algn="l">
              <a:defRPr sz="5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Using Terraform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0CAACB-E138-4010-BE05-1B96AB7DB2CB}"/>
              </a:ext>
            </a:extLst>
          </p:cNvPr>
          <p:cNvSpPr>
            <a:spLocks noGrp="1"/>
          </p:cNvSpPr>
          <p:nvPr/>
        </p:nvSpPr>
        <p:spPr>
          <a:xfrm>
            <a:off x="400050" y="4667250"/>
            <a:ext cx="11391900" cy="19050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9AE051-AEF8-4278-88D8-326026E4EC96}"/>
              </a:ext>
            </a:extLst>
          </p:cNvPr>
          <p:cNvSpPr>
            <a:spLocks noGrp="1"/>
          </p:cNvSpPr>
          <p:nvPr/>
        </p:nvSpPr>
        <p:spPr>
          <a:xfrm>
            <a:off x="400050" y="5000625"/>
            <a:ext cx="8572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Mahmoud Kanaan  ·  92133250  ·  DLBSEPCP01_E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8E37E3-9287-48F9-9F82-2E912AF5A9E4}"/>
              </a:ext>
            </a:extLst>
          </p:cNvPr>
          <p:cNvSpPr>
            <a:spLocks noGrp="1"/>
          </p:cNvSpPr>
          <p:nvPr/>
        </p:nvSpPr>
        <p:spPr>
          <a:xfrm>
            <a:off x="400050" y="5476875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17 July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8091CA-6E9E-421D-BD8B-F3E0B2C457FE}"/>
              </a:ext>
            </a:extLst>
          </p:cNvPr>
          <p:cNvSpPr>
            <a:spLocks noGrp="1"/>
          </p:cNvSpPr>
          <p:nvPr/>
        </p:nvSpPr>
        <p:spPr>
          <a:xfrm>
            <a:off x="11334750" y="621982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61613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8C68587C-A881-4A59-83E9-2749258E0706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1001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7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Static delivery still demands production quality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558705-B8D4-4D23-A0DC-7C198353F952}"/>
              </a:ext>
            </a:extLst>
          </p:cNvPr>
          <p:cNvSpPr>
            <a:spLocks noGrp="1"/>
          </p:cNvSpPr>
          <p:nvPr/>
        </p:nvSpPr>
        <p:spPr>
          <a:xfrm>
            <a:off x="11334750" y="621982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7BAE7C-F33A-43E9-BF06-932B78A990D9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challenge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5CA18D-9839-4D87-B312-5A926B4C627E}"/>
              </a:ext>
            </a:extLst>
          </p:cNvPr>
          <p:cNvSpPr>
            <a:spLocks noGrp="1"/>
          </p:cNvSpPr>
          <p:nvPr/>
        </p:nvSpPr>
        <p:spPr>
          <a:xfrm>
            <a:off x="400050" y="1857375"/>
            <a:ext cx="3429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Publish one self-contained HTML page worldwide without operating servers or exposing its storage origin.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BAB561-91AC-479D-958C-1C3C014EA2E1}"/>
              </a:ext>
            </a:extLst>
          </p:cNvPr>
          <p:cNvSpPr>
            <a:spLocks noGrp="1"/>
          </p:cNvSpPr>
          <p:nvPr/>
        </p:nvSpPr>
        <p:spPr>
          <a:xfrm>
            <a:off x="4476750" y="12573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588EE5-9F04-46B2-9F5B-32A01710699B}"/>
              </a:ext>
            </a:extLst>
          </p:cNvPr>
          <p:cNvSpPr>
            <a:spLocks noGrp="1"/>
          </p:cNvSpPr>
          <p:nvPr/>
        </p:nvSpPr>
        <p:spPr>
          <a:xfrm>
            <a:off x="5095875" y="12573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HIGH AVAILABILITY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19C59B-343D-4513-9C15-B5132F6D5FA9}"/>
              </a:ext>
            </a:extLst>
          </p:cNvPr>
          <p:cNvSpPr>
            <a:spLocks noGrp="1"/>
          </p:cNvSpPr>
          <p:nvPr/>
        </p:nvSpPr>
        <p:spPr>
          <a:xfrm>
            <a:off x="7953375" y="1257300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Managed, multi-AZ origin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D0EF62-1674-4CD2-8778-722EB4ADE233}"/>
              </a:ext>
            </a:extLst>
          </p:cNvPr>
          <p:cNvSpPr>
            <a:spLocks noGrp="1"/>
          </p:cNvSpPr>
          <p:nvPr/>
        </p:nvSpPr>
        <p:spPr>
          <a:xfrm>
            <a:off x="4476750" y="1800225"/>
            <a:ext cx="6905625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5E11CF-F431-4777-B7FF-08FD9D9C5F4C}"/>
              </a:ext>
            </a:extLst>
          </p:cNvPr>
          <p:cNvSpPr>
            <a:spLocks noGrp="1"/>
          </p:cNvSpPr>
          <p:nvPr/>
        </p:nvSpPr>
        <p:spPr>
          <a:xfrm>
            <a:off x="4476750" y="22098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2AD403-ACD8-4C4A-A1BE-C327A28BD1B8}"/>
              </a:ext>
            </a:extLst>
          </p:cNvPr>
          <p:cNvSpPr>
            <a:spLocks noGrp="1"/>
          </p:cNvSpPr>
          <p:nvPr/>
        </p:nvSpPr>
        <p:spPr>
          <a:xfrm>
            <a:off x="5095875" y="22098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GLOBAL DELIVERY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0B72DC-18EA-4BD3-BEFB-73F11E72764F}"/>
              </a:ext>
            </a:extLst>
          </p:cNvPr>
          <p:cNvSpPr>
            <a:spLocks noGrp="1"/>
          </p:cNvSpPr>
          <p:nvPr/>
        </p:nvSpPr>
        <p:spPr>
          <a:xfrm>
            <a:off x="7953375" y="2209800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CloudFront edge network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BED30F-CDEF-41C8-93DB-9BCB67119CC1}"/>
              </a:ext>
            </a:extLst>
          </p:cNvPr>
          <p:cNvSpPr>
            <a:spLocks noGrp="1"/>
          </p:cNvSpPr>
          <p:nvPr/>
        </p:nvSpPr>
        <p:spPr>
          <a:xfrm>
            <a:off x="4476750" y="2752725"/>
            <a:ext cx="6905625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821B75-8AF2-41D1-B0E8-827C089040A0}"/>
              </a:ext>
            </a:extLst>
          </p:cNvPr>
          <p:cNvSpPr>
            <a:spLocks noGrp="1"/>
          </p:cNvSpPr>
          <p:nvPr/>
        </p:nvSpPr>
        <p:spPr>
          <a:xfrm>
            <a:off x="4476750" y="31623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5E91E3-E0AA-4E34-B51D-2C92E15F098E}"/>
              </a:ext>
            </a:extLst>
          </p:cNvPr>
          <p:cNvSpPr>
            <a:spLocks noGrp="1"/>
          </p:cNvSpPr>
          <p:nvPr/>
        </p:nvSpPr>
        <p:spPr>
          <a:xfrm>
            <a:off x="5095875" y="31623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AUTOMATIC SCALE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65C54B-8EFA-4C5F-A452-3165E69ABF27}"/>
              </a:ext>
            </a:extLst>
          </p:cNvPr>
          <p:cNvSpPr>
            <a:spLocks noGrp="1"/>
          </p:cNvSpPr>
          <p:nvPr/>
        </p:nvSpPr>
        <p:spPr>
          <a:xfrm>
            <a:off x="7953375" y="3162300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No fixed server capacity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F7AF82-1BDA-4592-917B-67CA14F99180}"/>
              </a:ext>
            </a:extLst>
          </p:cNvPr>
          <p:cNvSpPr>
            <a:spLocks noGrp="1"/>
          </p:cNvSpPr>
          <p:nvPr/>
        </p:nvSpPr>
        <p:spPr>
          <a:xfrm>
            <a:off x="4476750" y="3705225"/>
            <a:ext cx="6905625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CA7C07-0B08-4E2A-BD2D-1935A3868FF7}"/>
              </a:ext>
            </a:extLst>
          </p:cNvPr>
          <p:cNvSpPr>
            <a:spLocks noGrp="1"/>
          </p:cNvSpPr>
          <p:nvPr/>
        </p:nvSpPr>
        <p:spPr>
          <a:xfrm>
            <a:off x="4476750" y="41148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756492-D3B9-49AA-A282-4A859AF1A271}"/>
              </a:ext>
            </a:extLst>
          </p:cNvPr>
          <p:cNvSpPr>
            <a:spLocks noGrp="1"/>
          </p:cNvSpPr>
          <p:nvPr/>
        </p:nvSpPr>
        <p:spPr>
          <a:xfrm>
            <a:off x="5095875" y="41148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SECURITY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9D03A0-F6F4-441B-BAC0-85C31979EACE}"/>
              </a:ext>
            </a:extLst>
          </p:cNvPr>
          <p:cNvSpPr>
            <a:spLocks noGrp="1"/>
          </p:cNvSpPr>
          <p:nvPr/>
        </p:nvSpPr>
        <p:spPr>
          <a:xfrm>
            <a:off x="7953375" y="4114800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HTTPS + private S3 origin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42D4191-C9F9-47F7-8435-230CBA01887B}"/>
              </a:ext>
            </a:extLst>
          </p:cNvPr>
          <p:cNvSpPr>
            <a:spLocks noGrp="1"/>
          </p:cNvSpPr>
          <p:nvPr/>
        </p:nvSpPr>
        <p:spPr>
          <a:xfrm>
            <a:off x="4476750" y="4657725"/>
            <a:ext cx="6905625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9133D2-97C3-48F1-B973-393BA723D69C}"/>
              </a:ext>
            </a:extLst>
          </p:cNvPr>
          <p:cNvSpPr>
            <a:spLocks noGrp="1"/>
          </p:cNvSpPr>
          <p:nvPr/>
        </p:nvSpPr>
        <p:spPr>
          <a:xfrm>
            <a:off x="4476750" y="506730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A15BEA-8CDD-4192-A14B-317A8BD148DE}"/>
              </a:ext>
            </a:extLst>
          </p:cNvPr>
          <p:cNvSpPr>
            <a:spLocks noGrp="1"/>
          </p:cNvSpPr>
          <p:nvPr/>
        </p:nvSpPr>
        <p:spPr>
          <a:xfrm>
            <a:off x="5095875" y="50673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REPRODUCIBILITY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F93B66A-3650-4060-9FF8-BCA51A038724}"/>
              </a:ext>
            </a:extLst>
          </p:cNvPr>
          <p:cNvSpPr>
            <a:spLocks noGrp="1"/>
          </p:cNvSpPr>
          <p:nvPr/>
        </p:nvSpPr>
        <p:spPr>
          <a:xfrm>
            <a:off x="7953375" y="5067300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Terraform-defined lifecycle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F6C3822-5964-495A-9D62-DC6C766ABAAF}"/>
              </a:ext>
            </a:extLst>
          </p:cNvPr>
          <p:cNvSpPr>
            <a:spLocks noGrp="1"/>
          </p:cNvSpPr>
          <p:nvPr/>
        </p:nvSpPr>
        <p:spPr>
          <a:xfrm>
            <a:off x="4476750" y="5610225"/>
            <a:ext cx="6905625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AA39613-455B-4A5A-8E45-09F97A515230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DLBSEPCP01_E · Mahmoud Kanaan</a:t>
            </a:r>
          </a:p>
        </p:txBody>
      </p:sp>
    </p:spTree>
    <p:extLst>
      <p:ext uri="{BB962C8B-B14F-4D97-AF65-F5344CB8AC3E}">
        <p14:creationId xmlns:p14="http://schemas.microsoft.com/office/powerpoint/2010/main" val="1126717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EEE1D19-97D7-4946-AA2E-51077A0D4BD6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1001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7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CloudFront serves users while S3 stays private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88F4D7-0CB6-4AFA-9052-57A10203BEF1}"/>
              </a:ext>
            </a:extLst>
          </p:cNvPr>
          <p:cNvSpPr>
            <a:spLocks noGrp="1"/>
          </p:cNvSpPr>
          <p:nvPr/>
        </p:nvSpPr>
        <p:spPr>
          <a:xfrm>
            <a:off x="11334750" y="621982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860240-FB77-4AAB-AC19-B6982E083BA2}"/>
              </a:ext>
            </a:extLst>
          </p:cNvPr>
          <p:cNvSpPr>
            <a:spLocks noGrp="1"/>
          </p:cNvSpPr>
          <p:nvPr/>
        </p:nvSpPr>
        <p:spPr>
          <a:xfrm>
            <a:off x="381000" y="1200150"/>
            <a:ext cx="6896100" cy="480060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097232" y="1219200"/>
            <a:ext cx="3463636" cy="4762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93A3A8A-B955-412C-94C1-23DE748867A1}"/>
              </a:ext>
            </a:extLst>
          </p:cNvPr>
          <p:cNvSpPr>
            <a:spLocks noGrp="1"/>
          </p:cNvSpPr>
          <p:nvPr/>
        </p:nvSpPr>
        <p:spPr>
          <a:xfrm>
            <a:off x="7667625" y="138112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REQUEST PATH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226999-A3DB-4AAE-9690-BEF6BA65ECB1}"/>
              </a:ext>
            </a:extLst>
          </p:cNvPr>
          <p:cNvSpPr>
            <a:spLocks noGrp="1"/>
          </p:cNvSpPr>
          <p:nvPr/>
        </p:nvSpPr>
        <p:spPr>
          <a:xfrm>
            <a:off x="7667625" y="1762125"/>
            <a:ext cx="3905250" cy="2333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1  User requests the CloudFront URL over HTTPS.</a:t>
            </a:r>
          </a:p>
          <a:p>
            <a:endParaRPr sz="1725" b="0">
              <a:solidFill>
                <a:srgbClr val="555B65"/>
              </a:solidFill>
              <a:latin typeface="Arial"/>
              <a:ea typeface="Arial"/>
              <a:cs typeface="Arial"/>
            </a:endParaRPr>
          </a:p>
          <a:p>
            <a:pPr algn="l">
              <a:defRPr sz="172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2  CloudFront serves a cached copy or signs an origin request through OAC.</a:t>
            </a:r>
          </a:p>
          <a:p>
            <a:endParaRPr sz="1725" b="0">
              <a:solidFill>
                <a:srgbClr val="555B65"/>
              </a:solidFill>
              <a:latin typeface="Arial"/>
              <a:ea typeface="Arial"/>
              <a:cs typeface="Arial"/>
            </a:endParaRPr>
          </a:p>
          <a:p>
            <a:pPr algn="l">
              <a:defRPr sz="172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3  S3 returns index.html only to the designated distribution.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52FC4C-630F-448A-9B17-6A5801EEBEA5}"/>
              </a:ext>
            </a:extLst>
          </p:cNvPr>
          <p:cNvSpPr>
            <a:spLocks noGrp="1"/>
          </p:cNvSpPr>
          <p:nvPr/>
        </p:nvSpPr>
        <p:spPr>
          <a:xfrm>
            <a:off x="7667625" y="442912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PROVISIONING FLOW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2933B8-798E-4F99-AC28-8174D32F0DD7}"/>
              </a:ext>
            </a:extLst>
          </p:cNvPr>
          <p:cNvSpPr>
            <a:spLocks noGrp="1"/>
          </p:cNvSpPr>
          <p:nvPr/>
        </p:nvSpPr>
        <p:spPr>
          <a:xfrm>
            <a:off x="7667625" y="4810125"/>
            <a:ext cx="3905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Terraform creates and links S3, OAC, CloudFront and the restricted bucket policy.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01E939-E969-4E09-A271-C9236D97B993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Figure 1. Request flow (solid) and Terraform provisioning (dashed).</a:t>
            </a:r>
          </a:p>
        </p:txBody>
      </p:sp>
    </p:spTree>
    <p:extLst>
      <p:ext uri="{BB962C8B-B14F-4D97-AF65-F5344CB8AC3E}">
        <p14:creationId xmlns:p14="http://schemas.microsoft.com/office/powerpoint/2010/main" val="1767884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53A17ED-3CF4-4216-B1F2-4E2F040D1950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1001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7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Four managed services meet the requirement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61FB7C-DCB1-4389-8C79-DB6445B993B9}"/>
              </a:ext>
            </a:extLst>
          </p:cNvPr>
          <p:cNvSpPr>
            <a:spLocks noGrp="1"/>
          </p:cNvSpPr>
          <p:nvPr/>
        </p:nvSpPr>
        <p:spPr>
          <a:xfrm>
            <a:off x="11334750" y="621982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E6874A-E8EB-4A67-AD77-D3B2F3839193}"/>
              </a:ext>
            </a:extLst>
          </p:cNvPr>
          <p:cNvSpPr>
            <a:spLocks noGrp="1"/>
          </p:cNvSpPr>
          <p:nvPr/>
        </p:nvSpPr>
        <p:spPr>
          <a:xfrm>
            <a:off x="400050" y="1285875"/>
            <a:ext cx="5334000" cy="147637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216BC0-2B39-4CAA-987D-E4BDE32C4C62}"/>
              </a:ext>
            </a:extLst>
          </p:cNvPr>
          <p:cNvSpPr>
            <a:spLocks noGrp="1"/>
          </p:cNvSpPr>
          <p:nvPr/>
        </p:nvSpPr>
        <p:spPr>
          <a:xfrm>
            <a:off x="628650" y="1495425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559F94-58A2-492E-AD4B-258FF1F3B776}"/>
              </a:ext>
            </a:extLst>
          </p:cNvPr>
          <p:cNvSpPr>
            <a:spLocks noGrp="1"/>
          </p:cNvSpPr>
          <p:nvPr/>
        </p:nvSpPr>
        <p:spPr>
          <a:xfrm>
            <a:off x="628650" y="1952625"/>
            <a:ext cx="476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Durable managed storage for one static object.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C564F0-CA0F-444D-AD62-50B6BF26DDBF}"/>
              </a:ext>
            </a:extLst>
          </p:cNvPr>
          <p:cNvSpPr>
            <a:spLocks noGrp="1"/>
          </p:cNvSpPr>
          <p:nvPr/>
        </p:nvSpPr>
        <p:spPr>
          <a:xfrm>
            <a:off x="6115050" y="1285875"/>
            <a:ext cx="5334000" cy="147637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8145C7-09AA-452F-AAB8-5534B5EF38E3}"/>
              </a:ext>
            </a:extLst>
          </p:cNvPr>
          <p:cNvSpPr>
            <a:spLocks noGrp="1"/>
          </p:cNvSpPr>
          <p:nvPr/>
        </p:nvSpPr>
        <p:spPr>
          <a:xfrm>
            <a:off x="6343650" y="1495425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CloudFront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5DF776-45FF-4B79-A462-F8B3124E5AE5}"/>
              </a:ext>
            </a:extLst>
          </p:cNvPr>
          <p:cNvSpPr>
            <a:spLocks noGrp="1"/>
          </p:cNvSpPr>
          <p:nvPr/>
        </p:nvSpPr>
        <p:spPr>
          <a:xfrm>
            <a:off x="6343650" y="1952625"/>
            <a:ext cx="476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Global HTTPS delivery, caching and compression.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B7DEC8-6F86-4A4F-BD87-6CD50239D6B3}"/>
              </a:ext>
            </a:extLst>
          </p:cNvPr>
          <p:cNvSpPr>
            <a:spLocks noGrp="1"/>
          </p:cNvSpPr>
          <p:nvPr/>
        </p:nvSpPr>
        <p:spPr>
          <a:xfrm>
            <a:off x="400050" y="3095625"/>
            <a:ext cx="5334000" cy="1476375"/>
          </a:xfrm>
          <a:prstGeom prst="rect">
            <a:avLst/>
          </a:prstGeom>
          <a:solidFill>
            <a:srgbClr val="D0EDFA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B46C44-9D39-483E-AA43-734C8D9B5A10}"/>
              </a:ext>
            </a:extLst>
          </p:cNvPr>
          <p:cNvSpPr>
            <a:spLocks noGrp="1"/>
          </p:cNvSpPr>
          <p:nvPr/>
        </p:nvSpPr>
        <p:spPr>
          <a:xfrm>
            <a:off x="628650" y="3305175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OAC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1C6972-A5D5-434C-BBF3-E7BB51CEE381}"/>
              </a:ext>
            </a:extLst>
          </p:cNvPr>
          <p:cNvSpPr>
            <a:spLocks noGrp="1"/>
          </p:cNvSpPr>
          <p:nvPr/>
        </p:nvSpPr>
        <p:spPr>
          <a:xfrm>
            <a:off x="628650" y="3762375"/>
            <a:ext cx="476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SigV4 origin requests and distribution-scoped access.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2C808E-BD9A-44CC-B7E4-C1596456B543}"/>
              </a:ext>
            </a:extLst>
          </p:cNvPr>
          <p:cNvSpPr>
            <a:spLocks noGrp="1"/>
          </p:cNvSpPr>
          <p:nvPr/>
        </p:nvSpPr>
        <p:spPr>
          <a:xfrm>
            <a:off x="6115050" y="3095625"/>
            <a:ext cx="5334000" cy="1476375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E669ED-DAF0-4A11-A6C5-8E99837F72AE}"/>
              </a:ext>
            </a:extLst>
          </p:cNvPr>
          <p:cNvSpPr>
            <a:spLocks noGrp="1"/>
          </p:cNvSpPr>
          <p:nvPr/>
        </p:nvSpPr>
        <p:spPr>
          <a:xfrm>
            <a:off x="6343650" y="3305175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Terraform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FA4D13-F98F-4B05-95D0-7EBCEE9669AD}"/>
              </a:ext>
            </a:extLst>
          </p:cNvPr>
          <p:cNvSpPr>
            <a:spLocks noGrp="1"/>
          </p:cNvSpPr>
          <p:nvPr/>
        </p:nvSpPr>
        <p:spPr>
          <a:xfrm>
            <a:off x="6343650" y="3762375"/>
            <a:ext cx="4762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Versioned, reviewable and repeatable infrastructure.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5EA1962-7051-470B-AB1A-B89C14417063}"/>
              </a:ext>
            </a:extLst>
          </p:cNvPr>
          <p:cNvSpPr>
            <a:spLocks noGrp="1"/>
          </p:cNvSpPr>
          <p:nvPr/>
        </p:nvSpPr>
        <p:spPr>
          <a:xfrm>
            <a:off x="400050" y="51435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REJECTED ALTERNATIVES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1DF682-0648-4C4B-9E04-7C4EA9CECE70}"/>
              </a:ext>
            </a:extLst>
          </p:cNvPr>
          <p:cNvSpPr>
            <a:spLocks noGrp="1"/>
          </p:cNvSpPr>
          <p:nvPr/>
        </p:nvSpPr>
        <p:spPr>
          <a:xfrm>
            <a:off x="400050" y="5524500"/>
            <a:ext cx="1100137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EC2 + load balancer add operating systems, patching, compute targets and cost without providing value to a static one-object site. ECS, Lambda, API Gateway and databases are also unnecessary.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30B400-C2EB-42B9-AD6B-E3DDC46754EA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Sources: AWS CloudFront, S3 and OAC documentation; HashiCorp Terraform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777161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D4F5B774-99E5-4632-A790-4199FEBB996B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1001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7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Terraform makes the architecture repeatable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91339E-A018-40A6-87D4-3DE354829C2A}"/>
              </a:ext>
            </a:extLst>
          </p:cNvPr>
          <p:cNvSpPr>
            <a:spLocks noGrp="1"/>
          </p:cNvSpPr>
          <p:nvPr/>
        </p:nvSpPr>
        <p:spPr>
          <a:xfrm>
            <a:off x="11334750" y="621982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083EED-FCF7-42F7-9F4E-6305EAA3AF42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FILE STRUCTURE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7824F1-7913-4C55-9607-B888EBD5258C}"/>
              </a:ext>
            </a:extLst>
          </p:cNvPr>
          <p:cNvSpPr>
            <a:spLocks noGrp="1"/>
          </p:cNvSpPr>
          <p:nvPr/>
        </p:nvSpPr>
        <p:spPr>
          <a:xfrm>
            <a:off x="400050" y="1619250"/>
            <a:ext cx="3905250" cy="3476625"/>
          </a:xfrm>
          <a:prstGeom prst="rect">
            <a:avLst/>
          </a:prstGeom>
          <a:solidFill>
            <a:srgbClr val="162B3B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35CCAF-0AD2-46DE-A5D9-004448D5311F}"/>
              </a:ext>
            </a:extLst>
          </p:cNvPr>
          <p:cNvSpPr>
            <a:spLocks noGrp="1"/>
          </p:cNvSpPr>
          <p:nvPr/>
        </p:nvSpPr>
        <p:spPr>
          <a:xfrm>
            <a:off x="647700" y="1885950"/>
            <a:ext cx="3333750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main.tf</a:t>
            </a:r>
          </a:p>
          <a:p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variables.tf</a:t>
            </a:r>
          </a:p>
          <a:p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outputs.tf</a:t>
            </a:r>
          </a:p>
          <a:p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.terraform.lock.hcl</a:t>
            </a:r>
          </a:p>
          <a:p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site/</a:t>
            </a:r>
          </a:p>
          <a:p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└─ index.html</a:t>
            </a:r>
          </a:p>
          <a:p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diagrams/</a:t>
            </a:r>
          </a:p>
          <a:p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 └─ architecture-diagram.png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C3A08D-9709-4775-BC93-86A7072E0BB8}"/>
              </a:ext>
            </a:extLst>
          </p:cNvPr>
          <p:cNvSpPr>
            <a:spLocks noGrp="1"/>
          </p:cNvSpPr>
          <p:nvPr/>
        </p:nvSpPr>
        <p:spPr>
          <a:xfrm>
            <a:off x="4762500" y="12382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WORKFLOW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1D5D4A-F62F-4D69-9D51-5E47CC160891}"/>
              </a:ext>
            </a:extLst>
          </p:cNvPr>
          <p:cNvSpPr>
            <a:spLocks noGrp="1"/>
          </p:cNvSpPr>
          <p:nvPr/>
        </p:nvSpPr>
        <p:spPr>
          <a:xfrm>
            <a:off x="4762500" y="163830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AFB949-D6BA-4B9E-8A42-4080D52B2AAE}"/>
              </a:ext>
            </a:extLst>
          </p:cNvPr>
          <p:cNvSpPr>
            <a:spLocks noGrp="1"/>
          </p:cNvSpPr>
          <p:nvPr/>
        </p:nvSpPr>
        <p:spPr>
          <a:xfrm>
            <a:off x="5381625" y="1638300"/>
            <a:ext cx="3000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terraform init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679A03-5927-4A8F-8B02-F3B25807B4E8}"/>
              </a:ext>
            </a:extLst>
          </p:cNvPr>
          <p:cNvSpPr>
            <a:spLocks noGrp="1"/>
          </p:cNvSpPr>
          <p:nvPr/>
        </p:nvSpPr>
        <p:spPr>
          <a:xfrm>
            <a:off x="8572500" y="1638300"/>
            <a:ext cx="285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Provider + lock file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8DAD33-C234-43E8-9215-274F4AA9AE29}"/>
              </a:ext>
            </a:extLst>
          </p:cNvPr>
          <p:cNvSpPr>
            <a:spLocks noGrp="1"/>
          </p:cNvSpPr>
          <p:nvPr/>
        </p:nvSpPr>
        <p:spPr>
          <a:xfrm>
            <a:off x="4762500" y="2171700"/>
            <a:ext cx="66675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069CC0-0F80-43F0-A40B-6B6B384EDACE}"/>
              </a:ext>
            </a:extLst>
          </p:cNvPr>
          <p:cNvSpPr>
            <a:spLocks noGrp="1"/>
          </p:cNvSpPr>
          <p:nvPr/>
        </p:nvSpPr>
        <p:spPr>
          <a:xfrm>
            <a:off x="4762500" y="249555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E34E13-80D5-460C-B5F2-284EBA025127}"/>
              </a:ext>
            </a:extLst>
          </p:cNvPr>
          <p:cNvSpPr>
            <a:spLocks noGrp="1"/>
          </p:cNvSpPr>
          <p:nvPr/>
        </p:nvSpPr>
        <p:spPr>
          <a:xfrm>
            <a:off x="5381625" y="2495550"/>
            <a:ext cx="3000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terraform fmt / validate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4E1C50-F9D1-42EF-8DCD-5B19793BD7C1}"/>
              </a:ext>
            </a:extLst>
          </p:cNvPr>
          <p:cNvSpPr>
            <a:spLocks noGrp="1"/>
          </p:cNvSpPr>
          <p:nvPr/>
        </p:nvSpPr>
        <p:spPr>
          <a:xfrm>
            <a:off x="8572500" y="2495550"/>
            <a:ext cx="285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Syntax and consistency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996574-B206-48E7-AD35-C4548F3413F7}"/>
              </a:ext>
            </a:extLst>
          </p:cNvPr>
          <p:cNvSpPr>
            <a:spLocks noGrp="1"/>
          </p:cNvSpPr>
          <p:nvPr/>
        </p:nvSpPr>
        <p:spPr>
          <a:xfrm>
            <a:off x="4762500" y="3028950"/>
            <a:ext cx="66675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AEADE8-F7BA-4C48-AD9D-C0565AA18E13}"/>
              </a:ext>
            </a:extLst>
          </p:cNvPr>
          <p:cNvSpPr>
            <a:spLocks noGrp="1"/>
          </p:cNvSpPr>
          <p:nvPr/>
        </p:nvSpPr>
        <p:spPr>
          <a:xfrm>
            <a:off x="4762500" y="335280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A50091-C6A8-452C-AEA3-D3A9ECCE9CF4}"/>
              </a:ext>
            </a:extLst>
          </p:cNvPr>
          <p:cNvSpPr>
            <a:spLocks noGrp="1"/>
          </p:cNvSpPr>
          <p:nvPr/>
        </p:nvSpPr>
        <p:spPr>
          <a:xfrm>
            <a:off x="5381625" y="3352800"/>
            <a:ext cx="3000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terraform plan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FC4CE9-2B58-4FB1-BCDF-2F5BD1D5CB1D}"/>
              </a:ext>
            </a:extLst>
          </p:cNvPr>
          <p:cNvSpPr>
            <a:spLocks noGrp="1"/>
          </p:cNvSpPr>
          <p:nvPr/>
        </p:nvSpPr>
        <p:spPr>
          <a:xfrm>
            <a:off x="8572500" y="3352800"/>
            <a:ext cx="285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Review expected resources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CDF67C-2904-468C-ABF5-FDF8E70AC038}"/>
              </a:ext>
            </a:extLst>
          </p:cNvPr>
          <p:cNvSpPr>
            <a:spLocks noGrp="1"/>
          </p:cNvSpPr>
          <p:nvPr/>
        </p:nvSpPr>
        <p:spPr>
          <a:xfrm>
            <a:off x="4762500" y="3886200"/>
            <a:ext cx="66675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BE377D4-59A6-4762-AC88-596E1488339D}"/>
              </a:ext>
            </a:extLst>
          </p:cNvPr>
          <p:cNvSpPr>
            <a:spLocks noGrp="1"/>
          </p:cNvSpPr>
          <p:nvPr/>
        </p:nvSpPr>
        <p:spPr>
          <a:xfrm>
            <a:off x="4762500" y="4210050"/>
            <a:ext cx="457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0C2B729-4B0E-4325-8D50-ECB319E1DA5E}"/>
              </a:ext>
            </a:extLst>
          </p:cNvPr>
          <p:cNvSpPr>
            <a:spLocks noGrp="1"/>
          </p:cNvSpPr>
          <p:nvPr/>
        </p:nvSpPr>
        <p:spPr>
          <a:xfrm>
            <a:off x="5381625" y="4210050"/>
            <a:ext cx="3000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terraform apply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CB8E99F-3CBE-47E5-84EE-40D72D941969}"/>
              </a:ext>
            </a:extLst>
          </p:cNvPr>
          <p:cNvSpPr>
            <a:spLocks noGrp="1"/>
          </p:cNvSpPr>
          <p:nvPr/>
        </p:nvSpPr>
        <p:spPr>
          <a:xfrm>
            <a:off x="8572500" y="4210050"/>
            <a:ext cx="285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Create or update AWS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37B4757-869B-4F8D-B135-301F67799777}"/>
              </a:ext>
            </a:extLst>
          </p:cNvPr>
          <p:cNvSpPr>
            <a:spLocks noGrp="1"/>
          </p:cNvSpPr>
          <p:nvPr/>
        </p:nvSpPr>
        <p:spPr>
          <a:xfrm>
            <a:off x="4762500" y="4743450"/>
            <a:ext cx="66675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E6531A-29C5-4EC5-96BB-6A3D8BA31C76}"/>
              </a:ext>
            </a:extLst>
          </p:cNvPr>
          <p:cNvSpPr>
            <a:spLocks noGrp="1"/>
          </p:cNvSpPr>
          <p:nvPr/>
        </p:nvSpPr>
        <p:spPr>
          <a:xfrm>
            <a:off x="4762500" y="5238750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Stable first draft</a:t>
            </a:r>
          </a:p>
        </p:txBody>
      </p:sp>
      <p:sp>
        <p:nvSpPr>
          <p:cNvPr id="24" name="Rectangle 23">
            <a:hlinkClick r:id="rId3"/>
            <a:extLst>
              <a:ext uri="{FF2B5EF4-FFF2-40B4-BE49-F238E27FC236}">
                <a16:creationId xmlns:a16="http://schemas.microsoft.com/office/drawing/2014/main" id="{D8394EA7-17C2-4633-9B51-3B76397A0DC3}"/>
              </a:ext>
            </a:extLst>
          </p:cNvPr>
          <p:cNvSpPr>
            <a:spLocks noGrp="1"/>
          </p:cNvSpPr>
          <p:nvPr/>
        </p:nvSpPr>
        <p:spPr>
          <a:xfrm>
            <a:off x="4762500" y="5543550"/>
            <a:ext cx="666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https://github.com/MahmoudBKanaan/AWS-Deployment/tree/portfolio-part-2-first-draft/iu-cloud-programming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895F4B5-E8B1-401A-A8C9-7947BEBDF742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Git tag: portfolio-part-2-first-draft</a:t>
            </a:r>
          </a:p>
        </p:txBody>
      </p:sp>
    </p:spTree>
    <p:extLst>
      <p:ext uri="{BB962C8B-B14F-4D97-AF65-F5344CB8AC3E}">
        <p14:creationId xmlns:p14="http://schemas.microsoft.com/office/powerpoint/2010/main" val="1007461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A48F0352-58D1-4905-81D3-DCBEC39E464F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1001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7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Security is enforced at every boundary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9EDC4A-6BB6-430D-ACB3-17D39F0564C2}"/>
              </a:ext>
            </a:extLst>
          </p:cNvPr>
          <p:cNvSpPr>
            <a:spLocks noGrp="1"/>
          </p:cNvSpPr>
          <p:nvPr/>
        </p:nvSpPr>
        <p:spPr>
          <a:xfrm>
            <a:off x="11334750" y="621982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335820-1507-4558-AB5E-C366B281CBB8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38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7C45C56-FEB8-4C67-9820-87BC4BF8CBD4}"/>
              </a:ext>
            </a:extLst>
          </p:cNvPr>
          <p:cNvSpPr>
            <a:spLocks noGrp="1"/>
          </p:cNvSpPr>
          <p:nvPr/>
        </p:nvSpPr>
        <p:spPr>
          <a:xfrm>
            <a:off x="904875" y="1200150"/>
            <a:ext cx="10477500" cy="9144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A74B2B-68F0-4AD3-BE97-2A33E1C87FA1}"/>
              </a:ext>
            </a:extLst>
          </p:cNvPr>
          <p:cNvSpPr>
            <a:spLocks noGrp="1"/>
          </p:cNvSpPr>
          <p:nvPr/>
        </p:nvSpPr>
        <p:spPr>
          <a:xfrm>
            <a:off x="1143000" y="1333500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VIEWER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193E86-25B9-4564-B5F5-3A15BD7F5198}"/>
              </a:ext>
            </a:extLst>
          </p:cNvPr>
          <p:cNvSpPr>
            <a:spLocks noGrp="1"/>
          </p:cNvSpPr>
          <p:nvPr/>
        </p:nvSpPr>
        <p:spPr>
          <a:xfrm>
            <a:off x="3048000" y="1295400"/>
            <a:ext cx="3714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HTTP redirects to HTTPS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3416DE-83AB-4326-AFFB-62997B4649C0}"/>
              </a:ext>
            </a:extLst>
          </p:cNvPr>
          <p:cNvSpPr>
            <a:spLocks noGrp="1"/>
          </p:cNvSpPr>
          <p:nvPr/>
        </p:nvSpPr>
        <p:spPr>
          <a:xfrm>
            <a:off x="7000875" y="1295400"/>
            <a:ext cx="4048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CloudFront default TLS certificate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511D17-1ECD-4448-A793-8625018F56DC}"/>
              </a:ext>
            </a:extLst>
          </p:cNvPr>
          <p:cNvSpPr>
            <a:spLocks noGrp="1"/>
          </p:cNvSpPr>
          <p:nvPr/>
        </p:nvSpPr>
        <p:spPr>
          <a:xfrm>
            <a:off x="400050" y="2362200"/>
            <a:ext cx="38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E6295C-91D6-47C3-A4A7-A62E89CC5DD2}"/>
              </a:ext>
            </a:extLst>
          </p:cNvPr>
          <p:cNvSpPr>
            <a:spLocks noGrp="1"/>
          </p:cNvSpPr>
          <p:nvPr/>
        </p:nvSpPr>
        <p:spPr>
          <a:xfrm>
            <a:off x="904875" y="2324100"/>
            <a:ext cx="10477500" cy="914400"/>
          </a:xfrm>
          <a:prstGeom prst="rect">
            <a:avLst/>
          </a:prstGeom>
          <a:solidFill>
            <a:srgbClr val="D0EDFA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4FC701-76E9-4130-B0E5-015A456926E7}"/>
              </a:ext>
            </a:extLst>
          </p:cNvPr>
          <p:cNvSpPr>
            <a:spLocks noGrp="1"/>
          </p:cNvSpPr>
          <p:nvPr/>
        </p:nvSpPr>
        <p:spPr>
          <a:xfrm>
            <a:off x="1143000" y="2457450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EDGE → ORIGIN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59A13D-473E-408D-AA46-DBF1FC44E966}"/>
              </a:ext>
            </a:extLst>
          </p:cNvPr>
          <p:cNvSpPr>
            <a:spLocks noGrp="1"/>
          </p:cNvSpPr>
          <p:nvPr/>
        </p:nvSpPr>
        <p:spPr>
          <a:xfrm>
            <a:off x="3048000" y="2419350"/>
            <a:ext cx="3714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OAC signs every S3 request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865E89-D7B2-4DE5-8DE7-7351B1DF91CE}"/>
              </a:ext>
            </a:extLst>
          </p:cNvPr>
          <p:cNvSpPr>
            <a:spLocks noGrp="1"/>
          </p:cNvSpPr>
          <p:nvPr/>
        </p:nvSpPr>
        <p:spPr>
          <a:xfrm>
            <a:off x="7000875" y="2419350"/>
            <a:ext cx="4048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Bucket policy requires matching AWS:SourceArn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65E1E8-23BE-4D34-A20C-0E01E66C40C8}"/>
              </a:ext>
            </a:extLst>
          </p:cNvPr>
          <p:cNvSpPr>
            <a:spLocks noGrp="1"/>
          </p:cNvSpPr>
          <p:nvPr/>
        </p:nvSpPr>
        <p:spPr>
          <a:xfrm>
            <a:off x="400050" y="3486150"/>
            <a:ext cx="38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EE5498-1029-4A68-8E51-FA026BEED47A}"/>
              </a:ext>
            </a:extLst>
          </p:cNvPr>
          <p:cNvSpPr>
            <a:spLocks noGrp="1"/>
          </p:cNvSpPr>
          <p:nvPr/>
        </p:nvSpPr>
        <p:spPr>
          <a:xfrm>
            <a:off x="904875" y="3448050"/>
            <a:ext cx="10477500" cy="9144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504141-AB78-48EA-B5E3-238B4A08EE0F}"/>
              </a:ext>
            </a:extLst>
          </p:cNvPr>
          <p:cNvSpPr>
            <a:spLocks noGrp="1"/>
          </p:cNvSpPr>
          <p:nvPr/>
        </p:nvSpPr>
        <p:spPr>
          <a:xfrm>
            <a:off x="1143000" y="3581400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039844-A60D-4F49-AB74-48EDBF0CDF69}"/>
              </a:ext>
            </a:extLst>
          </p:cNvPr>
          <p:cNvSpPr>
            <a:spLocks noGrp="1"/>
          </p:cNvSpPr>
          <p:nvPr/>
        </p:nvSpPr>
        <p:spPr>
          <a:xfrm>
            <a:off x="3048000" y="3543300"/>
            <a:ext cx="3714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All four Public Access Block settings enabled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0F48A2-84DE-4F82-9654-D1A8E3E2A275}"/>
              </a:ext>
            </a:extLst>
          </p:cNvPr>
          <p:cNvSpPr>
            <a:spLocks noGrp="1"/>
          </p:cNvSpPr>
          <p:nvPr/>
        </p:nvSpPr>
        <p:spPr>
          <a:xfrm>
            <a:off x="7000875" y="3543300"/>
            <a:ext cx="4048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BucketOwnerEnforced · AES256 · versioning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CAAFE7-7BCE-495B-ACB4-9E0D4A9EFAF1}"/>
              </a:ext>
            </a:extLst>
          </p:cNvPr>
          <p:cNvSpPr>
            <a:spLocks noGrp="1"/>
          </p:cNvSpPr>
          <p:nvPr/>
        </p:nvSpPr>
        <p:spPr>
          <a:xfrm>
            <a:off x="400050" y="4610100"/>
            <a:ext cx="381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3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E0A7D5C-704B-4F7B-9970-57A91DC2A947}"/>
              </a:ext>
            </a:extLst>
          </p:cNvPr>
          <p:cNvSpPr>
            <a:spLocks noGrp="1"/>
          </p:cNvSpPr>
          <p:nvPr/>
        </p:nvSpPr>
        <p:spPr>
          <a:xfrm>
            <a:off x="904875" y="4572000"/>
            <a:ext cx="10477500" cy="9144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B5DA5F4-DD4E-4ED8-8DC1-839780FEFE34}"/>
              </a:ext>
            </a:extLst>
          </p:cNvPr>
          <p:cNvSpPr>
            <a:spLocks noGrp="1"/>
          </p:cNvSpPr>
          <p:nvPr/>
        </p:nvSpPr>
        <p:spPr>
          <a:xfrm>
            <a:off x="1143000" y="4705350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38F663A-81DA-482B-996C-10467CF60895}"/>
              </a:ext>
            </a:extLst>
          </p:cNvPr>
          <p:cNvSpPr>
            <a:spLocks noGrp="1"/>
          </p:cNvSpPr>
          <p:nvPr/>
        </p:nvSpPr>
        <p:spPr>
          <a:xfrm>
            <a:off x="3048000" y="4667250"/>
            <a:ext cx="3714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 credentials in code or outputs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7A9C900-1030-4A60-9444-881503A5DA83}"/>
              </a:ext>
            </a:extLst>
          </p:cNvPr>
          <p:cNvSpPr>
            <a:spLocks noGrp="1"/>
          </p:cNvSpPr>
          <p:nvPr/>
        </p:nvSpPr>
        <p:spPr>
          <a:xfrm>
            <a:off x="7000875" y="4667250"/>
            <a:ext cx="4048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State, plans, keys and .env excluded from Git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35748F7-1E5C-4C8F-8FE9-6FF85114D7CB}"/>
              </a:ext>
            </a:extLst>
          </p:cNvPr>
          <p:cNvSpPr>
            <a:spLocks noGrp="1"/>
          </p:cNvSpPr>
          <p:nvPr/>
        </p:nvSpPr>
        <p:spPr>
          <a:xfrm>
            <a:off x="904875" y="5876925"/>
            <a:ext cx="10477500" cy="28575"/>
          </a:xfrm>
          <a:prstGeom prst="rect">
            <a:avLst/>
          </a:prstGeom>
          <a:solidFill>
            <a:srgbClr val="16845B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D865D87-7987-4AA6-9D29-4B6DE2184C2B}"/>
              </a:ext>
            </a:extLst>
          </p:cNvPr>
          <p:cNvSpPr>
            <a:spLocks noGrp="1"/>
          </p:cNvSpPr>
          <p:nvPr/>
        </p:nvSpPr>
        <p:spPr>
          <a:xfrm>
            <a:off x="904875" y="60007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6845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845B"/>
                </a:solidFill>
                <a:latin typeface="Arial"/>
                <a:ea typeface="Arial"/>
                <a:cs typeface="Arial"/>
              </a:rPr>
              <a:t>Effective result: CloudFront is the only permitted reader of index.html.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2AC87BF-C370-4582-AA2E-F487DACFA37F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DLBSEPCP01_E · Mahmoud Kanaan</a:t>
            </a:r>
          </a:p>
        </p:txBody>
      </p:sp>
    </p:spTree>
    <p:extLst>
      <p:ext uri="{BB962C8B-B14F-4D97-AF65-F5344CB8AC3E}">
        <p14:creationId xmlns:p14="http://schemas.microsoft.com/office/powerpoint/2010/main" val="1024412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ECFD4A8D-135F-4BBE-B9E0-82536A5F7DD2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1001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7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Managed services remove capacity limits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4CE51A-9B20-424B-AA09-FF6F8F278C68}"/>
              </a:ext>
            </a:extLst>
          </p:cNvPr>
          <p:cNvSpPr>
            <a:spLocks noGrp="1"/>
          </p:cNvSpPr>
          <p:nvPr/>
        </p:nvSpPr>
        <p:spPr>
          <a:xfrm>
            <a:off x="11334750" y="621982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986D78-5C53-4105-9A3E-D66DC7C5F037}"/>
              </a:ext>
            </a:extLst>
          </p:cNvPr>
          <p:cNvSpPr>
            <a:spLocks noGrp="1"/>
          </p:cNvSpPr>
          <p:nvPr/>
        </p:nvSpPr>
        <p:spPr>
          <a:xfrm>
            <a:off x="400050" y="1666875"/>
            <a:ext cx="2476500" cy="2952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5FB4FA-6D4A-4306-82B7-58F1854F5EE6}"/>
              </a:ext>
            </a:extLst>
          </p:cNvPr>
          <p:cNvSpPr>
            <a:spLocks noGrp="1"/>
          </p:cNvSpPr>
          <p:nvPr/>
        </p:nvSpPr>
        <p:spPr>
          <a:xfrm>
            <a:off x="609600" y="1885950"/>
            <a:ext cx="523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FD0860-E7D3-404F-A4DA-781867D168F1}"/>
              </a:ext>
            </a:extLst>
          </p:cNvPr>
          <p:cNvSpPr>
            <a:spLocks noGrp="1"/>
          </p:cNvSpPr>
          <p:nvPr/>
        </p:nvSpPr>
        <p:spPr>
          <a:xfrm>
            <a:off x="609600" y="2428875"/>
            <a:ext cx="20478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S3 ORIGIN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043C71-45E0-406F-8959-5D3AACDC542A}"/>
              </a:ext>
            </a:extLst>
          </p:cNvPr>
          <p:cNvSpPr>
            <a:spLocks noGrp="1"/>
          </p:cNvSpPr>
          <p:nvPr/>
        </p:nvSpPr>
        <p:spPr>
          <a:xfrm>
            <a:off x="609600" y="3143250"/>
            <a:ext cx="20478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Multi-AZ managed storage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38F74B-2954-4FC7-AC5B-F3B84042E07E}"/>
              </a:ext>
            </a:extLst>
          </p:cNvPr>
          <p:cNvSpPr>
            <a:spLocks noGrp="1"/>
          </p:cNvSpPr>
          <p:nvPr/>
        </p:nvSpPr>
        <p:spPr>
          <a:xfrm>
            <a:off x="609600" y="4048125"/>
            <a:ext cx="2047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 web server fleet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2A94A3-686B-4ED7-B121-D8EAC3B9A2B5}"/>
              </a:ext>
            </a:extLst>
          </p:cNvPr>
          <p:cNvSpPr>
            <a:spLocks noGrp="1"/>
          </p:cNvSpPr>
          <p:nvPr/>
        </p:nvSpPr>
        <p:spPr>
          <a:xfrm>
            <a:off x="3257550" y="1666875"/>
            <a:ext cx="2476500" cy="2952750"/>
          </a:xfrm>
          <a:prstGeom prst="rect">
            <a:avLst/>
          </a:prstGeom>
          <a:solidFill>
            <a:srgbClr val="D0EDFA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DA18AC-9EAE-4DB6-B773-60010FE840BB}"/>
              </a:ext>
            </a:extLst>
          </p:cNvPr>
          <p:cNvSpPr>
            <a:spLocks noGrp="1"/>
          </p:cNvSpPr>
          <p:nvPr/>
        </p:nvSpPr>
        <p:spPr>
          <a:xfrm>
            <a:off x="3467100" y="1885950"/>
            <a:ext cx="523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43B2A1-96B7-47CE-B060-034541411FE2}"/>
              </a:ext>
            </a:extLst>
          </p:cNvPr>
          <p:cNvSpPr>
            <a:spLocks noGrp="1"/>
          </p:cNvSpPr>
          <p:nvPr/>
        </p:nvSpPr>
        <p:spPr>
          <a:xfrm>
            <a:off x="3467100" y="2428875"/>
            <a:ext cx="20478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CLOUDFRONT EDGE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B756C79-D09E-4FD4-A940-EECB0C90D0D7}"/>
              </a:ext>
            </a:extLst>
          </p:cNvPr>
          <p:cNvSpPr>
            <a:spLocks noGrp="1"/>
          </p:cNvSpPr>
          <p:nvPr/>
        </p:nvSpPr>
        <p:spPr>
          <a:xfrm>
            <a:off x="3467100" y="3143250"/>
            <a:ext cx="20478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Worldwide points of presence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6E30C3-24BA-494D-A382-747A434D8785}"/>
              </a:ext>
            </a:extLst>
          </p:cNvPr>
          <p:cNvSpPr>
            <a:spLocks noGrp="1"/>
          </p:cNvSpPr>
          <p:nvPr/>
        </p:nvSpPr>
        <p:spPr>
          <a:xfrm>
            <a:off x="3467100" y="4048125"/>
            <a:ext cx="2047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Low-latency delivery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9EF7CE-2344-473D-924C-F967AEF554ED}"/>
              </a:ext>
            </a:extLst>
          </p:cNvPr>
          <p:cNvSpPr>
            <a:spLocks noGrp="1"/>
          </p:cNvSpPr>
          <p:nvPr/>
        </p:nvSpPr>
        <p:spPr>
          <a:xfrm>
            <a:off x="6115050" y="1666875"/>
            <a:ext cx="2476500" cy="2952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98B969-000B-4A1C-B161-5669F36E518D}"/>
              </a:ext>
            </a:extLst>
          </p:cNvPr>
          <p:cNvSpPr>
            <a:spLocks noGrp="1"/>
          </p:cNvSpPr>
          <p:nvPr/>
        </p:nvSpPr>
        <p:spPr>
          <a:xfrm>
            <a:off x="6324600" y="1885950"/>
            <a:ext cx="523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4425CB-53D3-4853-96CF-0F81C360E3EA}"/>
              </a:ext>
            </a:extLst>
          </p:cNvPr>
          <p:cNvSpPr>
            <a:spLocks noGrp="1"/>
          </p:cNvSpPr>
          <p:nvPr/>
        </p:nvSpPr>
        <p:spPr>
          <a:xfrm>
            <a:off x="6324600" y="2428875"/>
            <a:ext cx="20478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CACHING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B5E10B-6208-49AD-A114-24F7D2E46304}"/>
              </a:ext>
            </a:extLst>
          </p:cNvPr>
          <p:cNvSpPr>
            <a:spLocks noGrp="1"/>
          </p:cNvSpPr>
          <p:nvPr/>
        </p:nvSpPr>
        <p:spPr>
          <a:xfrm>
            <a:off x="6324600" y="3143250"/>
            <a:ext cx="20478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Managed-CachingOptimized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7DB14C-90EB-4DAB-85DF-D2D76E69DF4D}"/>
              </a:ext>
            </a:extLst>
          </p:cNvPr>
          <p:cNvSpPr>
            <a:spLocks noGrp="1"/>
          </p:cNvSpPr>
          <p:nvPr/>
        </p:nvSpPr>
        <p:spPr>
          <a:xfrm>
            <a:off x="6324600" y="4048125"/>
            <a:ext cx="2047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Fewer origin requests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8B0939D-A9BB-4D44-A340-C739B658459C}"/>
              </a:ext>
            </a:extLst>
          </p:cNvPr>
          <p:cNvSpPr>
            <a:spLocks noGrp="1"/>
          </p:cNvSpPr>
          <p:nvPr/>
        </p:nvSpPr>
        <p:spPr>
          <a:xfrm>
            <a:off x="8972550" y="1666875"/>
            <a:ext cx="2476500" cy="295275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998EDC-FC97-42AB-B05A-D98C0C4A7E09}"/>
              </a:ext>
            </a:extLst>
          </p:cNvPr>
          <p:cNvSpPr>
            <a:spLocks noGrp="1"/>
          </p:cNvSpPr>
          <p:nvPr/>
        </p:nvSpPr>
        <p:spPr>
          <a:xfrm>
            <a:off x="9182100" y="1885950"/>
            <a:ext cx="523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892C230-69C2-49B0-8F27-73EFBD66BF87}"/>
              </a:ext>
            </a:extLst>
          </p:cNvPr>
          <p:cNvSpPr>
            <a:spLocks noGrp="1"/>
          </p:cNvSpPr>
          <p:nvPr/>
        </p:nvSpPr>
        <p:spPr>
          <a:xfrm>
            <a:off x="9182100" y="2428875"/>
            <a:ext cx="204787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SCALING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F1BDC89-EE37-4C1E-B968-D95AB7C26CFA}"/>
              </a:ext>
            </a:extLst>
          </p:cNvPr>
          <p:cNvSpPr>
            <a:spLocks noGrp="1"/>
          </p:cNvSpPr>
          <p:nvPr/>
        </p:nvSpPr>
        <p:spPr>
          <a:xfrm>
            <a:off x="9182100" y="3143250"/>
            <a:ext cx="20478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AWS-managed capacity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6EEC6A-610A-412B-8056-FC06C49A4606}"/>
              </a:ext>
            </a:extLst>
          </p:cNvPr>
          <p:cNvSpPr>
            <a:spLocks noGrp="1"/>
          </p:cNvSpPr>
          <p:nvPr/>
        </p:nvSpPr>
        <p:spPr>
          <a:xfrm>
            <a:off x="9182100" y="4048125"/>
            <a:ext cx="2047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No capacity planning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E0D16B-B050-4364-B9F2-760F560B0914}"/>
              </a:ext>
            </a:extLst>
          </p:cNvPr>
          <p:cNvSpPr>
            <a:spLocks noGrp="1"/>
          </p:cNvSpPr>
          <p:nvPr/>
        </p:nvSpPr>
        <p:spPr>
          <a:xfrm>
            <a:off x="400050" y="5191125"/>
            <a:ext cx="10953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architecture scales by service design—not by forecasting server capacity.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68EE5B0-B5B7-40DC-8EBD-ED320D1E30FD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PriceClass_All was chosen to prioritize worldwide reach over regional cost savings.</a:t>
            </a:r>
          </a:p>
        </p:txBody>
      </p:sp>
    </p:spTree>
    <p:extLst>
      <p:ext uri="{BB962C8B-B14F-4D97-AF65-F5344CB8AC3E}">
        <p14:creationId xmlns:p14="http://schemas.microsoft.com/office/powerpoint/2010/main" val="672686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C1DFC42-9E44-47C6-8CC6-626C332D4131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1001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7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Deployment evidence confirms the design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A618C40-7F2D-4627-922E-1A35147BB0AA}"/>
              </a:ext>
            </a:extLst>
          </p:cNvPr>
          <p:cNvSpPr>
            <a:spLocks noGrp="1"/>
          </p:cNvSpPr>
          <p:nvPr/>
        </p:nvSpPr>
        <p:spPr>
          <a:xfrm>
            <a:off x="11334750" y="621982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5D07F2-C9FF-497D-9ADC-BF9AFE42A670}"/>
              </a:ext>
            </a:extLst>
          </p:cNvPr>
          <p:cNvSpPr>
            <a:spLocks noGrp="1"/>
          </p:cNvSpPr>
          <p:nvPr/>
        </p:nvSpPr>
        <p:spPr>
          <a:xfrm>
            <a:off x="381000" y="1171575"/>
            <a:ext cx="5372100" cy="18478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8622" y="1190625"/>
            <a:ext cx="5076856" cy="18097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01EAB8F-74F2-486C-B48F-3B6B8665CD91}"/>
              </a:ext>
            </a:extLst>
          </p:cNvPr>
          <p:cNvSpPr>
            <a:spLocks noGrp="1"/>
          </p:cNvSpPr>
          <p:nvPr/>
        </p:nvSpPr>
        <p:spPr>
          <a:xfrm>
            <a:off x="400050" y="3076575"/>
            <a:ext cx="533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Terraform apply: 9 resources created.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F3ADD4-DF94-4BDA-B375-DEB5E8EDE8D8}"/>
              </a:ext>
            </a:extLst>
          </p:cNvPr>
          <p:cNvSpPr>
            <a:spLocks noGrp="1"/>
          </p:cNvSpPr>
          <p:nvPr/>
        </p:nvSpPr>
        <p:spPr>
          <a:xfrm>
            <a:off x="6096000" y="1171575"/>
            <a:ext cx="5372100" cy="18478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479030" y="1190625"/>
            <a:ext cx="2606040" cy="18097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CB9EB85-E46F-468F-B5CA-0CD480B08BB2}"/>
              </a:ext>
            </a:extLst>
          </p:cNvPr>
          <p:cNvSpPr>
            <a:spLocks noGrp="1"/>
          </p:cNvSpPr>
          <p:nvPr/>
        </p:nvSpPr>
        <p:spPr>
          <a:xfrm>
            <a:off x="6115050" y="3076575"/>
            <a:ext cx="533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Live website served through CloudFront HTTPS.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056F16-23DB-4D44-A8E5-F8744845B4FD}"/>
              </a:ext>
            </a:extLst>
          </p:cNvPr>
          <p:cNvSpPr>
            <a:spLocks noGrp="1"/>
          </p:cNvSpPr>
          <p:nvPr/>
        </p:nvSpPr>
        <p:spPr>
          <a:xfrm>
            <a:off x="381000" y="3648075"/>
            <a:ext cx="5372100" cy="18478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00050" y="3756212"/>
            <a:ext cx="5334000" cy="163157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06D0F24-21D9-436C-B32A-B67B258FE8E7}"/>
              </a:ext>
            </a:extLst>
          </p:cNvPr>
          <p:cNvSpPr>
            <a:spLocks noGrp="1"/>
          </p:cNvSpPr>
          <p:nvPr/>
        </p:nvSpPr>
        <p:spPr>
          <a:xfrm>
            <a:off x="400050" y="5553075"/>
            <a:ext cx="533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CloudFront distribution status: Deployed.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0FB261-10A0-4914-94B6-BB4B5ABC8185}"/>
              </a:ext>
            </a:extLst>
          </p:cNvPr>
          <p:cNvSpPr>
            <a:spLocks noGrp="1"/>
          </p:cNvSpPr>
          <p:nvPr/>
        </p:nvSpPr>
        <p:spPr>
          <a:xfrm>
            <a:off x="6096000" y="3648075"/>
            <a:ext cx="5372100" cy="1847850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115050" y="3756212"/>
            <a:ext cx="5334000" cy="163157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11F75B5-02E7-4984-BDC6-45C34935CD6F}"/>
              </a:ext>
            </a:extLst>
          </p:cNvPr>
          <p:cNvSpPr>
            <a:spLocks noGrp="1"/>
          </p:cNvSpPr>
          <p:nvPr/>
        </p:nvSpPr>
        <p:spPr>
          <a:xfrm>
            <a:off x="6115050" y="5553075"/>
            <a:ext cx="533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S3 object metadata confirms HTML, cache and encryption.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4E51FF-1FED-48F2-A181-897CAC27F9A1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Figures 2–5. Genuine deployment and AWS verification outputs captured on 17 July 2026.</a:t>
            </a:r>
          </a:p>
        </p:txBody>
      </p:sp>
    </p:spTree>
    <p:extLst>
      <p:ext uri="{BB962C8B-B14F-4D97-AF65-F5344CB8AC3E}">
        <p14:creationId xmlns:p14="http://schemas.microsoft.com/office/powerpoint/2010/main" val="214575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E854735F-AE12-42FD-8C31-C663E8DA607A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1001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7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Tests confirm security and repeatability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AE5B0F-6F56-4399-8B34-DD22AE0D1E06}"/>
              </a:ext>
            </a:extLst>
          </p:cNvPr>
          <p:cNvSpPr>
            <a:spLocks noGrp="1"/>
          </p:cNvSpPr>
          <p:nvPr/>
        </p:nvSpPr>
        <p:spPr>
          <a:xfrm>
            <a:off x="11334750" y="621982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2B9A2D-362F-427A-9621-FC9DB41F26D4}"/>
              </a:ext>
            </a:extLst>
          </p:cNvPr>
          <p:cNvSpPr>
            <a:spLocks noGrp="1"/>
          </p:cNvSpPr>
          <p:nvPr/>
        </p:nvSpPr>
        <p:spPr>
          <a:xfrm>
            <a:off x="381000" y="1219200"/>
            <a:ext cx="4991100" cy="12287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474845" y="1238250"/>
            <a:ext cx="2803411" cy="11906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18474B6-87F0-4140-BF06-324BBE2DA4BC}"/>
              </a:ext>
            </a:extLst>
          </p:cNvPr>
          <p:cNvSpPr>
            <a:spLocks noGrp="1"/>
          </p:cNvSpPr>
          <p:nvPr/>
        </p:nvSpPr>
        <p:spPr>
          <a:xfrm>
            <a:off x="400050" y="247650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HTTPS 200 + CloudFront headers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5F2CCC-5A9F-4745-A28D-AA61FD1FE737}"/>
              </a:ext>
            </a:extLst>
          </p:cNvPr>
          <p:cNvSpPr>
            <a:spLocks noGrp="1"/>
          </p:cNvSpPr>
          <p:nvPr/>
        </p:nvSpPr>
        <p:spPr>
          <a:xfrm>
            <a:off x="381000" y="2838450"/>
            <a:ext cx="4991100" cy="12287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30336" y="2857500"/>
            <a:ext cx="3892428" cy="119062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3FD9C86-56D0-49FB-A819-B04D3AD9554A}"/>
              </a:ext>
            </a:extLst>
          </p:cNvPr>
          <p:cNvSpPr>
            <a:spLocks noGrp="1"/>
          </p:cNvSpPr>
          <p:nvPr/>
        </p:nvSpPr>
        <p:spPr>
          <a:xfrm>
            <a:off x="400050" y="409575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Direct S3 request denied (403)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8349D9-B41C-436B-B99B-C744894959F9}"/>
              </a:ext>
            </a:extLst>
          </p:cNvPr>
          <p:cNvSpPr>
            <a:spLocks noGrp="1"/>
          </p:cNvSpPr>
          <p:nvPr/>
        </p:nvSpPr>
        <p:spPr>
          <a:xfrm>
            <a:off x="381000" y="4457700"/>
            <a:ext cx="4991100" cy="1228725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30336" y="4476750"/>
            <a:ext cx="3892428" cy="119062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1BF8709-B2EF-413D-9EB1-9862EADB88E0}"/>
              </a:ext>
            </a:extLst>
          </p:cNvPr>
          <p:cNvSpPr>
            <a:spLocks noGrp="1"/>
          </p:cNvSpPr>
          <p:nvPr/>
        </p:nvSpPr>
        <p:spPr>
          <a:xfrm>
            <a:off x="400050" y="571500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Repeated request: Hit from CloudFront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D053E4-1B3F-4008-B171-53DABA367FA7}"/>
              </a:ext>
            </a:extLst>
          </p:cNvPr>
          <p:cNvSpPr>
            <a:spLocks noGrp="1"/>
          </p:cNvSpPr>
          <p:nvPr/>
        </p:nvSpPr>
        <p:spPr>
          <a:xfrm>
            <a:off x="5905500" y="1285875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TEST OUTCOMES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EA2EBC-9DA3-4D95-8E9A-22C3D603C4C2}"/>
              </a:ext>
            </a:extLst>
          </p:cNvPr>
          <p:cNvSpPr>
            <a:spLocks noGrp="1"/>
          </p:cNvSpPr>
          <p:nvPr/>
        </p:nvSpPr>
        <p:spPr>
          <a:xfrm>
            <a:off x="5905500" y="1666875"/>
            <a:ext cx="5191125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• HTTPS response: PASS</a:t>
            </a:r>
          </a:p>
          <a:p>
            <a:pPr algn="l">
              <a:defRPr sz="165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• HTTP → HTTPS redirect: PASS</a:t>
            </a:r>
          </a:p>
          <a:p>
            <a:pPr algn="l">
              <a:defRPr sz="165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• Direct S3 denial: PASS</a:t>
            </a:r>
          </a:p>
          <a:p>
            <a:pPr algn="l">
              <a:defRPr sz="165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• Public Access Block: PASS</a:t>
            </a:r>
          </a:p>
          <a:p>
            <a:pPr algn="l">
              <a:defRPr sz="165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• CloudFront cache hit: PASS</a:t>
            </a:r>
          </a:p>
          <a:p>
            <a:pPr algn="l">
              <a:defRPr sz="165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• Terraform no-change plan: PASS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5D157F-580D-4DC1-8BF4-178B84A175BC}"/>
              </a:ext>
            </a:extLst>
          </p:cNvPr>
          <p:cNvSpPr>
            <a:spLocks noGrp="1"/>
          </p:cNvSpPr>
          <p:nvPr/>
        </p:nvSpPr>
        <p:spPr>
          <a:xfrm>
            <a:off x="5905500" y="4333875"/>
            <a:ext cx="5286375" cy="1381125"/>
          </a:xfrm>
          <a:prstGeom prst="rect">
            <a:avLst/>
          </a:prstGeom>
          <a:solidFill>
            <a:srgbClr val="D0EDFA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16936A-BEFD-4616-B13E-06280C313D6C}"/>
              </a:ext>
            </a:extLst>
          </p:cNvPr>
          <p:cNvSpPr>
            <a:spLocks noGrp="1"/>
          </p:cNvSpPr>
          <p:nvPr/>
        </p:nvSpPr>
        <p:spPr>
          <a:xfrm>
            <a:off x="6143625" y="45529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Reflection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8C5805-EA21-458F-81F7-1F83FD4E9518}"/>
              </a:ext>
            </a:extLst>
          </p:cNvPr>
          <p:cNvSpPr>
            <a:spLocks noGrp="1"/>
          </p:cNvSpPr>
          <p:nvPr/>
        </p:nvSpPr>
        <p:spPr>
          <a:xfrm>
            <a:off x="6143625" y="4933950"/>
            <a:ext cx="476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strongest evidence combines positive delivery tests with negative origin-access tests and a final idempotency check.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49D5D3D-094B-435D-A4CC-2DB062347171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Figures 6–8. Test evidence; full results are recorded in evidence/test-results.md.</a:t>
            </a:r>
          </a:p>
        </p:txBody>
      </p:sp>
    </p:spTree>
    <p:extLst>
      <p:ext uri="{BB962C8B-B14F-4D97-AF65-F5344CB8AC3E}">
        <p14:creationId xmlns:p14="http://schemas.microsoft.com/office/powerpoint/2010/main" val="354254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5C1A6733-26FF-461D-9D60-9AED91D1321B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1100137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7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architecture meets every core requirement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27816EA-9D46-4BD0-B269-C7DF0EA00046}"/>
              </a:ext>
            </a:extLst>
          </p:cNvPr>
          <p:cNvSpPr>
            <a:spLocks noGrp="1"/>
          </p:cNvSpPr>
          <p:nvPr/>
        </p:nvSpPr>
        <p:spPr>
          <a:xfrm>
            <a:off x="11334750" y="621982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35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A7DD28-2091-4906-9F5E-036E4C8BD749}"/>
              </a:ext>
            </a:extLst>
          </p:cNvPr>
          <p:cNvSpPr>
            <a:spLocks noGrp="1"/>
          </p:cNvSpPr>
          <p:nvPr/>
        </p:nvSpPr>
        <p:spPr>
          <a:xfrm>
            <a:off x="400050" y="1238250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78D6D9-D8B0-438C-9057-C9CBBD1CC1AA}"/>
              </a:ext>
            </a:extLst>
          </p:cNvPr>
          <p:cNvSpPr>
            <a:spLocks noGrp="1"/>
          </p:cNvSpPr>
          <p:nvPr/>
        </p:nvSpPr>
        <p:spPr>
          <a:xfrm>
            <a:off x="400050" y="1600200"/>
            <a:ext cx="533400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globally accessible HTTPS site backed by a private S3 origin and reproducible Terraform configuration.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48D09C-D933-446A-9D54-1537B9CEBA43}"/>
              </a:ext>
            </a:extLst>
          </p:cNvPr>
          <p:cNvSpPr>
            <a:spLocks noGrp="1"/>
          </p:cNvSpPr>
          <p:nvPr/>
        </p:nvSpPr>
        <p:spPr>
          <a:xfrm>
            <a:off x="400050" y="3000375"/>
            <a:ext cx="190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LIMITATIONS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3F4CF4-F8DF-4A9A-B107-3009E08238C2}"/>
              </a:ext>
            </a:extLst>
          </p:cNvPr>
          <p:cNvSpPr>
            <a:spLocks noGrp="1"/>
          </p:cNvSpPr>
          <p:nvPr/>
        </p:nvSpPr>
        <p:spPr>
          <a:xfrm>
            <a:off x="400050" y="3352800"/>
            <a:ext cx="49530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Default CloudFront domain; no WAF, CI/CD or custom observability; designed for one static page.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1B7F3A-D90B-409F-BF3C-8761CC1188D3}"/>
              </a:ext>
            </a:extLst>
          </p:cNvPr>
          <p:cNvSpPr>
            <a:spLocks noGrp="1"/>
          </p:cNvSpPr>
          <p:nvPr/>
        </p:nvSpPr>
        <p:spPr>
          <a:xfrm>
            <a:off x="400050" y="449580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FUTURE IMPROVEMENTS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98F811-272B-4686-A5BF-DA464D90FC5B}"/>
              </a:ext>
            </a:extLst>
          </p:cNvPr>
          <p:cNvSpPr>
            <a:spLocks noGrp="1"/>
          </p:cNvSpPr>
          <p:nvPr/>
        </p:nvSpPr>
        <p:spPr>
          <a:xfrm>
            <a:off x="400050" y="4857750"/>
            <a:ext cx="4953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Optional custom domain and ACM certificate, automated deployment, logging and budget alarms—only when justified by scope.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DCAEC6-A81F-449A-9333-29DBE0A10E76}"/>
              </a:ext>
            </a:extLst>
          </p:cNvPr>
          <p:cNvSpPr>
            <a:spLocks noGrp="1"/>
          </p:cNvSpPr>
          <p:nvPr/>
        </p:nvSpPr>
        <p:spPr>
          <a:xfrm>
            <a:off x="6000750" y="1190625"/>
            <a:ext cx="5410200" cy="4572000"/>
          </a:xfrm>
          <a:prstGeom prst="rect">
            <a:avLst/>
          </a:prstGeom>
          <a:solidFill>
            <a:srgbClr val="EDEDED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8B30D7-85C1-4FB0-9E5E-6EC5D20BAF62}"/>
              </a:ext>
            </a:extLst>
          </p:cNvPr>
          <p:cNvSpPr>
            <a:spLocks noGrp="1"/>
          </p:cNvSpPr>
          <p:nvPr/>
        </p:nvSpPr>
        <p:spPr>
          <a:xfrm>
            <a:off x="6305550" y="1447800"/>
            <a:ext cx="2381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9A30FB-875D-4EE6-8B46-3EE3BF638E06}"/>
              </a:ext>
            </a:extLst>
          </p:cNvPr>
          <p:cNvSpPr>
            <a:spLocks noGrp="1"/>
          </p:cNvSpPr>
          <p:nvPr/>
        </p:nvSpPr>
        <p:spPr>
          <a:xfrm>
            <a:off x="6305550" y="1952625"/>
            <a:ext cx="4762500" cy="2905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Amazon Web Services. Amazon CloudFront Developer Guide.</a:t>
            </a:r>
          </a:p>
          <a:p>
            <a:pPr algn="l">
              <a:defRPr sz="127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https://docs.aws.amazon.com/AmazonCloudFront/latest/DeveloperGuide/Introduction.html</a:t>
            </a:r>
          </a:p>
          <a:p>
            <a:endParaRPr sz="1275" b="0">
              <a:solidFill>
                <a:srgbClr val="555B65"/>
              </a:solidFill>
              <a:latin typeface="Arial"/>
              <a:ea typeface="Arial"/>
              <a:cs typeface="Arial"/>
            </a:endParaRPr>
          </a:p>
          <a:p>
            <a:pPr algn="l">
              <a:defRPr sz="127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Amazon Web Services. Restrict access to an Amazon S3 origin.</a:t>
            </a:r>
          </a:p>
          <a:p>
            <a:pPr algn="l">
              <a:defRPr sz="127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https://docs.aws.amazon.com/AmazonCloudFront/latest/DeveloperGuide/private-content-restricting-access-to-s3.html</a:t>
            </a:r>
          </a:p>
          <a:p>
            <a:endParaRPr sz="1275" b="0">
              <a:solidFill>
                <a:srgbClr val="555B65"/>
              </a:solidFill>
              <a:latin typeface="Arial"/>
              <a:ea typeface="Arial"/>
              <a:cs typeface="Arial"/>
            </a:endParaRPr>
          </a:p>
          <a:p>
            <a:pPr algn="l">
              <a:defRPr sz="127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Amazon Web Services. Data protection in Amazon S3.</a:t>
            </a:r>
          </a:p>
          <a:p>
            <a:pPr algn="l">
              <a:defRPr sz="127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https://docs.aws.amazon.com/AmazonS3/latest/userguide/DataDurability.html</a:t>
            </a:r>
          </a:p>
          <a:p>
            <a:endParaRPr sz="1275" b="0">
              <a:solidFill>
                <a:srgbClr val="555B65"/>
              </a:solidFill>
              <a:latin typeface="Arial"/>
              <a:ea typeface="Arial"/>
              <a:cs typeface="Arial"/>
            </a:endParaRPr>
          </a:p>
          <a:p>
            <a:pPr algn="l">
              <a:defRPr sz="127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HashiCorp. What is Terraform?</a:t>
            </a:r>
          </a:p>
          <a:p>
            <a:pPr algn="l">
              <a:defRPr sz="127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https://developer.hashicorp.com/terraform/intro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BF826FA-F1BF-4A5E-89AF-7CAA1391410B}"/>
              </a:ext>
            </a:extLst>
          </p:cNvPr>
          <p:cNvSpPr>
            <a:spLocks noGrp="1"/>
          </p:cNvSpPr>
          <p:nvPr/>
        </p:nvSpPr>
        <p:spPr>
          <a:xfrm>
            <a:off x="6305550" y="5095875"/>
            <a:ext cx="1714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Code snapshot</a:t>
            </a:r>
          </a:p>
        </p:txBody>
      </p:sp>
      <p:sp>
        <p:nvSpPr>
          <p:cNvPr id="13" name="Rectangle 12">
            <a:hlinkClick r:id="rId3"/>
            <a:extLst>
              <a:ext uri="{FF2B5EF4-FFF2-40B4-BE49-F238E27FC236}">
                <a16:creationId xmlns:a16="http://schemas.microsoft.com/office/drawing/2014/main" id="{B72E3712-CF6C-423B-9A9E-5EAB612CC691}"/>
              </a:ext>
            </a:extLst>
          </p:cNvPr>
          <p:cNvSpPr>
            <a:spLocks noGrp="1"/>
          </p:cNvSpPr>
          <p:nvPr/>
        </p:nvSpPr>
        <p:spPr>
          <a:xfrm>
            <a:off x="6305550" y="539115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https://github.com/MahmoudBKanaan/AWS-Deployment/tree/portfolio-part-2-first-draft/iu-cloud-programming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3EDC0D-1E52-417C-9151-8846AC8E2267}"/>
              </a:ext>
            </a:extLst>
          </p:cNvPr>
          <p:cNvSpPr>
            <a:spLocks noGrp="1"/>
          </p:cNvSpPr>
          <p:nvPr/>
        </p:nvSpPr>
        <p:spPr>
          <a:xfrm>
            <a:off x="400050" y="6305550"/>
            <a:ext cx="857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555B6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B65"/>
                </a:solidFill>
                <a:latin typeface="Arial"/>
                <a:ea typeface="Arial"/>
                <a:cs typeface="Arial"/>
              </a:rPr>
              <a:t>Conclusion: secure edge delivery without unnecessary compute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57095435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727</Words>
  <Application>Microsoft Office PowerPoint</Application>
  <DocSecurity>0</DocSecurity>
  <PresentationFormat>Widescreen</PresentationFormat>
  <Paragraphs>163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MBK 7</cp:lastModifiedBy>
  <cp:revision>1</cp:revision>
  <dcterms:created xsi:type="dcterms:W3CDTF">2026-07-17T20:34:47Z</dcterms:created>
  <dcterms:modified xsi:type="dcterms:W3CDTF">2026-07-17T20:35:53Z</dcterms:modified>
</cp:coreProperties>
</file>